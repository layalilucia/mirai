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Arial MT Pro Italics" charset="1" panose="020B0502020202090204"/>
      <p:regular r:id="rId20"/>
    </p:embeddedFont>
    <p:embeddedFont>
      <p:font typeface="Maven Pro Bold" charset="1" panose="00000800000000000000"/>
      <p:regular r:id="rId22"/>
    </p:embeddedFont>
    <p:embeddedFont>
      <p:font typeface="Maven Pro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jpeg" Type="http://schemas.openxmlformats.org/officeDocument/2006/relationships/image"/><Relationship Id="rId11" Target="../media/VAHE1sHnJrk.mp4" Type="http://schemas.openxmlformats.org/officeDocument/2006/relationships/video"/><Relationship Id="rId12" Target="../media/VAHE1sHnJrk.mp4" Type="http://schemas.microsoft.com/office/2007/relationships/media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1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12" Target="../media/image43.png" Type="http://schemas.openxmlformats.org/officeDocument/2006/relationships/image"/><Relationship Id="rId13" Target="../media/image44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0" y="0"/>
                </a:moveTo>
                <a:lnTo>
                  <a:pt x="18256302" y="0"/>
                </a:lnTo>
                <a:lnTo>
                  <a:pt x="18256302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166425" y="-166125"/>
            <a:ext cx="6877050" cy="1721850"/>
            <a:chOff x="0" y="0"/>
            <a:chExt cx="9169400" cy="2295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9400" cy="2295779"/>
            </a:xfrm>
            <a:custGeom>
              <a:avLst/>
              <a:gdLst/>
              <a:ahLst/>
              <a:cxnLst/>
              <a:rect r="r" b="b" t="t" l="l"/>
              <a:pathLst>
                <a:path h="2295779" w="9169400">
                  <a:moveTo>
                    <a:pt x="9156700" y="25400"/>
                  </a:moveTo>
                  <a:lnTo>
                    <a:pt x="394335" y="25400"/>
                  </a:lnTo>
                  <a:lnTo>
                    <a:pt x="394335" y="12700"/>
                  </a:lnTo>
                  <a:lnTo>
                    <a:pt x="394335" y="25400"/>
                  </a:lnTo>
                  <a:cubicBezTo>
                    <a:pt x="190500" y="25400"/>
                    <a:pt x="25400" y="189230"/>
                    <a:pt x="25400" y="391160"/>
                  </a:cubicBezTo>
                  <a:lnTo>
                    <a:pt x="12700" y="391160"/>
                  </a:lnTo>
                  <a:lnTo>
                    <a:pt x="25400" y="39116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9156700" y="2270379"/>
                  </a:lnTo>
                  <a:lnTo>
                    <a:pt x="9156700" y="2283079"/>
                  </a:lnTo>
                  <a:lnTo>
                    <a:pt x="9144000" y="2283079"/>
                  </a:lnTo>
                  <a:lnTo>
                    <a:pt x="9144000" y="12700"/>
                  </a:lnTo>
                  <a:lnTo>
                    <a:pt x="9156700" y="12700"/>
                  </a:lnTo>
                  <a:lnTo>
                    <a:pt x="9156700" y="25400"/>
                  </a:lnTo>
                  <a:moveTo>
                    <a:pt x="9156700" y="0"/>
                  </a:moveTo>
                  <a:cubicBezTo>
                    <a:pt x="9163685" y="0"/>
                    <a:pt x="9169400" y="5715"/>
                    <a:pt x="9169400" y="12700"/>
                  </a:cubicBezTo>
                  <a:lnTo>
                    <a:pt x="9169400" y="2283079"/>
                  </a:lnTo>
                  <a:cubicBezTo>
                    <a:pt x="9169400" y="2290064"/>
                    <a:pt x="9163685" y="2295779"/>
                    <a:pt x="915670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391160"/>
                  </a:lnTo>
                  <a:cubicBezTo>
                    <a:pt x="0" y="175006"/>
                    <a:pt x="176657" y="0"/>
                    <a:pt x="394335" y="0"/>
                  </a:cubicBezTo>
                  <a:lnTo>
                    <a:pt x="9156700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738113" y="3895725"/>
            <a:ext cx="887175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b="true" sz="8200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Mirai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90513" y="5076825"/>
            <a:ext cx="887175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9"/>
              </a:lnSpc>
            </a:pPr>
            <a:r>
              <a:rPr lang="en-US" sz="3199" i="true">
                <a:solidFill>
                  <a:srgbClr val="00094A"/>
                </a:solidFill>
                <a:latin typeface="Arial MT Pro Italics"/>
                <a:ea typeface="Arial MT Pro Italics"/>
                <a:cs typeface="Arial MT Pro Italics"/>
                <a:sym typeface="Arial MT Pro Italics"/>
              </a:rPr>
              <a:t>Your gateway to the future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048838" y="8321518"/>
            <a:ext cx="7238864" cy="1965248"/>
          </a:xfrm>
          <a:custGeom>
            <a:avLst/>
            <a:gdLst/>
            <a:ahLst/>
            <a:cxnLst/>
            <a:rect r="r" b="b" t="t" l="l"/>
            <a:pathLst>
              <a:path h="1965248" w="7238864">
                <a:moveTo>
                  <a:pt x="0" y="0"/>
                </a:moveTo>
                <a:lnTo>
                  <a:pt x="7238864" y="0"/>
                </a:lnTo>
                <a:lnTo>
                  <a:pt x="7238864" y="1965248"/>
                </a:lnTo>
                <a:lnTo>
                  <a:pt x="0" y="196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rot="5384444">
            <a:off x="13157403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84444">
            <a:off x="13309115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84444">
            <a:off x="13460827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84444">
            <a:off x="13612537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84444">
            <a:off x="13915961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84444">
            <a:off x="14219383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84444">
            <a:off x="14522807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444">
            <a:off x="13764249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84444">
            <a:off x="14067673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84444">
            <a:off x="14371095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384444">
            <a:off x="14674519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5384444">
            <a:off x="14826229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5384444">
            <a:off x="14977941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5384444">
            <a:off x="15129653" y="657785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-1260174" y="3718576"/>
            <a:ext cx="5787174" cy="6568474"/>
          </a:xfrm>
          <a:custGeom>
            <a:avLst/>
            <a:gdLst/>
            <a:ahLst/>
            <a:cxnLst/>
            <a:rect r="r" b="b" t="t" l="l"/>
            <a:pathLst>
              <a:path h="6568474" w="5787174">
                <a:moveTo>
                  <a:pt x="0" y="0"/>
                </a:moveTo>
                <a:lnTo>
                  <a:pt x="5787174" y="0"/>
                </a:lnTo>
                <a:lnTo>
                  <a:pt x="5787174" y="6568474"/>
                </a:lnTo>
                <a:lnTo>
                  <a:pt x="0" y="6568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939500" y="-3357200"/>
            <a:ext cx="7513750" cy="5576150"/>
          </a:xfrm>
          <a:custGeom>
            <a:avLst/>
            <a:gdLst/>
            <a:ahLst/>
            <a:cxnLst/>
            <a:rect r="r" b="b" t="t" l="l"/>
            <a:pathLst>
              <a:path h="5576150" w="7513750">
                <a:moveTo>
                  <a:pt x="0" y="0"/>
                </a:moveTo>
                <a:lnTo>
                  <a:pt x="7513750" y="0"/>
                </a:lnTo>
                <a:lnTo>
                  <a:pt x="7513750" y="5576150"/>
                </a:lnTo>
                <a:lnTo>
                  <a:pt x="0" y="55761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18256302" y="0"/>
                </a:moveTo>
                <a:lnTo>
                  <a:pt x="0" y="0"/>
                </a:lnTo>
                <a:lnTo>
                  <a:pt x="0" y="10286998"/>
                </a:lnTo>
                <a:lnTo>
                  <a:pt x="18256302" y="10286998"/>
                </a:lnTo>
                <a:lnTo>
                  <a:pt x="182563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0" y="0"/>
                </a:moveTo>
                <a:lnTo>
                  <a:pt x="18256302" y="0"/>
                </a:lnTo>
                <a:lnTo>
                  <a:pt x="18256302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654003" y="0"/>
            <a:ext cx="18725750" cy="10287000"/>
          </a:xfrm>
          <a:custGeom>
            <a:avLst/>
            <a:gdLst/>
            <a:ahLst/>
            <a:cxnLst/>
            <a:rect r="r" b="b" t="t" l="l"/>
            <a:pathLst>
              <a:path h="10287000" w="18725750">
                <a:moveTo>
                  <a:pt x="0" y="0"/>
                </a:moveTo>
                <a:lnTo>
                  <a:pt x="18725750" y="0"/>
                </a:lnTo>
                <a:lnTo>
                  <a:pt x="18725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370350" y="9659250"/>
            <a:ext cx="4651650" cy="4651650"/>
          </a:xfrm>
          <a:custGeom>
            <a:avLst/>
            <a:gdLst/>
            <a:ahLst/>
            <a:cxnLst/>
            <a:rect r="r" b="b" t="t" l="l"/>
            <a:pathLst>
              <a:path h="4651650" w="4651650">
                <a:moveTo>
                  <a:pt x="0" y="0"/>
                </a:moveTo>
                <a:lnTo>
                  <a:pt x="4651650" y="0"/>
                </a:lnTo>
                <a:lnTo>
                  <a:pt x="4651650" y="4651650"/>
                </a:lnTo>
                <a:lnTo>
                  <a:pt x="0" y="4651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1200196" y="1028700"/>
            <a:ext cx="87823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b="true" sz="5600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</a:t>
            </a:r>
          </a:p>
        </p:txBody>
      </p:sp>
      <p:sp>
        <p:nvSpPr>
          <p:cNvPr name="AutoShape 7" id="7"/>
          <p:cNvSpPr/>
          <p:nvPr/>
        </p:nvSpPr>
        <p:spPr>
          <a:xfrm rot="5384444">
            <a:off x="-269947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84444">
            <a:off x="-118235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84444">
            <a:off x="33477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84444">
            <a:off x="185187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84444">
            <a:off x="488611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84444">
            <a:off x="792033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84444">
            <a:off x="1095457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84444">
            <a:off x="336899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444">
            <a:off x="640323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84444">
            <a:off x="943745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84444">
            <a:off x="1247169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384444">
            <a:off x="1398879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5384444">
            <a:off x="1550591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5384444">
            <a:off x="1702303" y="7904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5260795" y="-2315937"/>
            <a:ext cx="3770550" cy="3768500"/>
          </a:xfrm>
          <a:custGeom>
            <a:avLst/>
            <a:gdLst/>
            <a:ahLst/>
            <a:cxnLst/>
            <a:rect r="r" b="b" t="t" l="l"/>
            <a:pathLst>
              <a:path h="3768500" w="3770550">
                <a:moveTo>
                  <a:pt x="0" y="0"/>
                </a:moveTo>
                <a:lnTo>
                  <a:pt x="3770550" y="0"/>
                </a:lnTo>
                <a:lnTo>
                  <a:pt x="3770550" y="3768499"/>
                </a:lnTo>
                <a:lnTo>
                  <a:pt x="0" y="37684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-10800000">
            <a:off x="11705325" y="-166125"/>
            <a:ext cx="6877050" cy="1721850"/>
            <a:chOff x="0" y="0"/>
            <a:chExt cx="9169400" cy="2295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69400" cy="2295779"/>
            </a:xfrm>
            <a:custGeom>
              <a:avLst/>
              <a:gdLst/>
              <a:ahLst/>
              <a:cxnLst/>
              <a:rect r="r" b="b" t="t" l="l"/>
              <a:pathLst>
                <a:path h="2295779" w="9169400">
                  <a:moveTo>
                    <a:pt x="12700" y="0"/>
                  </a:moveTo>
                  <a:lnTo>
                    <a:pt x="8775065" y="0"/>
                  </a:lnTo>
                  <a:lnTo>
                    <a:pt x="8775065" y="12700"/>
                  </a:lnTo>
                  <a:lnTo>
                    <a:pt x="8775065" y="0"/>
                  </a:lnTo>
                  <a:cubicBezTo>
                    <a:pt x="8992743" y="0"/>
                    <a:pt x="9169400" y="175006"/>
                    <a:pt x="9169400" y="391160"/>
                  </a:cubicBezTo>
                  <a:lnTo>
                    <a:pt x="9156700" y="391160"/>
                  </a:lnTo>
                  <a:lnTo>
                    <a:pt x="9169400" y="391160"/>
                  </a:lnTo>
                  <a:lnTo>
                    <a:pt x="9169400" y="2283079"/>
                  </a:lnTo>
                  <a:cubicBezTo>
                    <a:pt x="9169400" y="2290064"/>
                    <a:pt x="9163685" y="2295779"/>
                    <a:pt x="915670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9156700" y="2270379"/>
                  </a:lnTo>
                  <a:lnTo>
                    <a:pt x="9156700" y="2283079"/>
                  </a:lnTo>
                  <a:lnTo>
                    <a:pt x="9144000" y="2283079"/>
                  </a:lnTo>
                  <a:lnTo>
                    <a:pt x="9144000" y="391160"/>
                  </a:lnTo>
                  <a:cubicBezTo>
                    <a:pt x="9144000" y="189230"/>
                    <a:pt x="8978900" y="25400"/>
                    <a:pt x="8775065" y="25400"/>
                  </a:cubicBez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593260" y="3105854"/>
            <a:ext cx="14876169" cy="2466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Security breaches</a:t>
            </a:r>
            <a:r>
              <a:rPr lang="en-US" sz="2799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remain a major concern in high-traffic facilities.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Traditional access systems</a:t>
            </a:r>
            <a:r>
              <a:rPr lang="en-US" sz="2799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(cards, PINs) are easily shared, lost or misused.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94A"/>
                </a:solidFill>
                <a:latin typeface="Maven Pro Bold"/>
                <a:ea typeface="Maven Pro Bold"/>
                <a:cs typeface="Maven Pro Bold"/>
                <a:sym typeface="Maven Pro Bold"/>
              </a:rPr>
              <a:t>Entry points</a:t>
            </a:r>
            <a:r>
              <a:rPr lang="en-US" sz="2799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 create long queues and congestion during peak hours.</a:t>
            </a:r>
          </a:p>
          <a:p>
            <a:pPr algn="l">
              <a:lnSpc>
                <a:spcPts val="287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0" y="0"/>
                </a:moveTo>
                <a:lnTo>
                  <a:pt x="18256302" y="0"/>
                </a:lnTo>
                <a:lnTo>
                  <a:pt x="18256302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415425" y="-871025"/>
            <a:ext cx="6877050" cy="1721850"/>
            <a:chOff x="0" y="0"/>
            <a:chExt cx="9169400" cy="2295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169400" cy="2295779"/>
            </a:xfrm>
            <a:custGeom>
              <a:avLst/>
              <a:gdLst/>
              <a:ahLst/>
              <a:cxnLst/>
              <a:rect r="r" b="b" t="t" l="l"/>
              <a:pathLst>
                <a:path h="2295779" w="9169400">
                  <a:moveTo>
                    <a:pt x="9156700" y="25400"/>
                  </a:moveTo>
                  <a:lnTo>
                    <a:pt x="394335" y="25400"/>
                  </a:lnTo>
                  <a:lnTo>
                    <a:pt x="394335" y="12700"/>
                  </a:lnTo>
                  <a:lnTo>
                    <a:pt x="394335" y="25400"/>
                  </a:lnTo>
                  <a:cubicBezTo>
                    <a:pt x="190500" y="25400"/>
                    <a:pt x="25400" y="189230"/>
                    <a:pt x="25400" y="391160"/>
                  </a:cubicBezTo>
                  <a:lnTo>
                    <a:pt x="12700" y="391160"/>
                  </a:lnTo>
                  <a:lnTo>
                    <a:pt x="25400" y="39116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9156700" y="2270379"/>
                  </a:lnTo>
                  <a:lnTo>
                    <a:pt x="9156700" y="2283079"/>
                  </a:lnTo>
                  <a:lnTo>
                    <a:pt x="9144000" y="2283079"/>
                  </a:lnTo>
                  <a:lnTo>
                    <a:pt x="9144000" y="12700"/>
                  </a:lnTo>
                  <a:lnTo>
                    <a:pt x="9156700" y="12700"/>
                  </a:lnTo>
                  <a:lnTo>
                    <a:pt x="9156700" y="25400"/>
                  </a:lnTo>
                  <a:moveTo>
                    <a:pt x="9156700" y="0"/>
                  </a:moveTo>
                  <a:cubicBezTo>
                    <a:pt x="9163685" y="0"/>
                    <a:pt x="9169400" y="5715"/>
                    <a:pt x="9169400" y="12700"/>
                  </a:cubicBezTo>
                  <a:lnTo>
                    <a:pt x="9169400" y="2283079"/>
                  </a:lnTo>
                  <a:cubicBezTo>
                    <a:pt x="9169400" y="2290064"/>
                    <a:pt x="9163685" y="2295779"/>
                    <a:pt x="915670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391160"/>
                  </a:lnTo>
                  <a:cubicBezTo>
                    <a:pt x="0" y="175006"/>
                    <a:pt x="176657" y="0"/>
                    <a:pt x="394335" y="0"/>
                  </a:cubicBezTo>
                  <a:lnTo>
                    <a:pt x="9156700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AutoShape 5" id="5"/>
          <p:cNvSpPr/>
          <p:nvPr/>
        </p:nvSpPr>
        <p:spPr>
          <a:xfrm rot="5384444">
            <a:off x="15334703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84444">
            <a:off x="15486415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84444">
            <a:off x="15638127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84444">
            <a:off x="15789837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84444">
            <a:off x="16093261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84444">
            <a:off x="16396683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84444">
            <a:off x="16700107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84444">
            <a:off x="15941549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84444">
            <a:off x="16244973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84444">
            <a:off x="16548395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444">
            <a:off x="16851819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84444">
            <a:off x="17003529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84444">
            <a:off x="17155241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384444">
            <a:off x="17306953" y="65559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9731176" y="-3048474"/>
            <a:ext cx="3770550" cy="3768500"/>
          </a:xfrm>
          <a:custGeom>
            <a:avLst/>
            <a:gdLst/>
            <a:ahLst/>
            <a:cxnLst/>
            <a:rect r="r" b="b" t="t" l="l"/>
            <a:pathLst>
              <a:path h="3768500" w="377055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11758" y="294050"/>
            <a:ext cx="19122058" cy="9992950"/>
          </a:xfrm>
          <a:custGeom>
            <a:avLst/>
            <a:gdLst/>
            <a:ahLst/>
            <a:cxnLst/>
            <a:rect r="r" b="b" t="t" l="l"/>
            <a:pathLst>
              <a:path h="9992950" w="19122058">
                <a:moveTo>
                  <a:pt x="0" y="0"/>
                </a:moveTo>
                <a:lnTo>
                  <a:pt x="19122058" y="0"/>
                </a:lnTo>
                <a:lnTo>
                  <a:pt x="19122058" y="9992950"/>
                </a:lnTo>
                <a:lnTo>
                  <a:pt x="0" y="9992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444194" y="5034955"/>
            <a:ext cx="2034862" cy="2034862"/>
          </a:xfrm>
          <a:custGeom>
            <a:avLst/>
            <a:gdLst/>
            <a:ahLst/>
            <a:cxnLst/>
            <a:rect r="r" b="b" t="t" l="l"/>
            <a:pathLst>
              <a:path h="2034862" w="2034862">
                <a:moveTo>
                  <a:pt x="0" y="0"/>
                </a:moveTo>
                <a:lnTo>
                  <a:pt x="2034862" y="0"/>
                </a:lnTo>
                <a:lnTo>
                  <a:pt x="2034862" y="2034863"/>
                </a:lnTo>
                <a:lnTo>
                  <a:pt x="0" y="20348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081065" y="5492739"/>
            <a:ext cx="761121" cy="1119295"/>
          </a:xfrm>
          <a:custGeom>
            <a:avLst/>
            <a:gdLst/>
            <a:ahLst/>
            <a:cxnLst/>
            <a:rect r="r" b="b" t="t" l="l"/>
            <a:pathLst>
              <a:path h="1119295" w="761121">
                <a:moveTo>
                  <a:pt x="0" y="0"/>
                </a:moveTo>
                <a:lnTo>
                  <a:pt x="761120" y="0"/>
                </a:lnTo>
                <a:lnTo>
                  <a:pt x="761120" y="1119295"/>
                </a:lnTo>
                <a:lnTo>
                  <a:pt x="0" y="111929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829513" y="5034955"/>
            <a:ext cx="1974669" cy="1974669"/>
          </a:xfrm>
          <a:custGeom>
            <a:avLst/>
            <a:gdLst/>
            <a:ahLst/>
            <a:cxnLst/>
            <a:rect r="r" b="b" t="t" l="l"/>
            <a:pathLst>
              <a:path h="1974669" w="1974669">
                <a:moveTo>
                  <a:pt x="0" y="0"/>
                </a:moveTo>
                <a:lnTo>
                  <a:pt x="1974669" y="0"/>
                </a:lnTo>
                <a:lnTo>
                  <a:pt x="1974669" y="1974669"/>
                </a:lnTo>
                <a:lnTo>
                  <a:pt x="0" y="1974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278411" y="5483853"/>
            <a:ext cx="1076873" cy="1076873"/>
          </a:xfrm>
          <a:custGeom>
            <a:avLst/>
            <a:gdLst/>
            <a:ahLst/>
            <a:cxnLst/>
            <a:rect r="r" b="b" t="t" l="l"/>
            <a:pathLst>
              <a:path h="1076873" w="1076873">
                <a:moveTo>
                  <a:pt x="0" y="0"/>
                </a:moveTo>
                <a:lnTo>
                  <a:pt x="1076873" y="0"/>
                </a:lnTo>
                <a:lnTo>
                  <a:pt x="1076873" y="1076873"/>
                </a:lnTo>
                <a:lnTo>
                  <a:pt x="0" y="10768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36175" y="1170425"/>
            <a:ext cx="15215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Solution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875556" y="3095402"/>
            <a:ext cx="1487616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>
                <a:solidFill>
                  <a:srgbClr val="00094A"/>
                </a:solidFill>
                <a:latin typeface="Maven Pro"/>
                <a:ea typeface="Maven Pro"/>
                <a:cs typeface="Maven Pro"/>
                <a:sym typeface="Maven Pro"/>
              </a:rPr>
              <a:t>A smart AI-powered gateway where users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405638" y="-101684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18256302" y="0"/>
                </a:moveTo>
                <a:lnTo>
                  <a:pt x="0" y="0"/>
                </a:lnTo>
                <a:lnTo>
                  <a:pt x="0" y="10286998"/>
                </a:lnTo>
                <a:lnTo>
                  <a:pt x="18256302" y="10286998"/>
                </a:lnTo>
                <a:lnTo>
                  <a:pt x="182563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527000" cy="3742800"/>
          </a:xfrm>
          <a:custGeom>
            <a:avLst/>
            <a:gdLst/>
            <a:ahLst/>
            <a:cxnLst/>
            <a:rect r="r" b="b" t="t" l="l"/>
            <a:pathLst>
              <a:path h="3742800" w="4527000">
                <a:moveTo>
                  <a:pt x="0" y="0"/>
                </a:moveTo>
                <a:lnTo>
                  <a:pt x="4527000" y="0"/>
                </a:lnTo>
                <a:lnTo>
                  <a:pt x="4527000" y="3742800"/>
                </a:lnTo>
                <a:lnTo>
                  <a:pt x="0" y="3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08082" y="-3001114"/>
            <a:ext cx="22357450" cy="13864075"/>
          </a:xfrm>
          <a:custGeom>
            <a:avLst/>
            <a:gdLst/>
            <a:ahLst/>
            <a:cxnLst/>
            <a:rect r="r" b="b" t="t" l="l"/>
            <a:pathLst>
              <a:path h="13864075" w="22357450">
                <a:moveTo>
                  <a:pt x="0" y="0"/>
                </a:moveTo>
                <a:lnTo>
                  <a:pt x="22357450" y="0"/>
                </a:lnTo>
                <a:lnTo>
                  <a:pt x="22357450" y="13864075"/>
                </a:lnTo>
                <a:lnTo>
                  <a:pt x="0" y="1386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462615" y="5462961"/>
            <a:ext cx="6101400" cy="5400000"/>
            <a:chOff x="0" y="0"/>
            <a:chExt cx="8135200" cy="720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5239" cy="7200011"/>
            </a:xfrm>
            <a:custGeom>
              <a:avLst/>
              <a:gdLst/>
              <a:ahLst/>
              <a:cxnLst/>
              <a:rect r="r" b="b" t="t" l="l"/>
              <a:pathLst>
                <a:path h="7200011" w="8135239">
                  <a:moveTo>
                    <a:pt x="8135239" y="0"/>
                  </a:moveTo>
                  <a:lnTo>
                    <a:pt x="3599942" y="0"/>
                  </a:lnTo>
                  <a:cubicBezTo>
                    <a:pt x="1611757" y="0"/>
                    <a:pt x="0" y="1611757"/>
                    <a:pt x="0" y="3599942"/>
                  </a:cubicBezTo>
                  <a:lnTo>
                    <a:pt x="0" y="7200011"/>
                  </a:lnTo>
                  <a:lnTo>
                    <a:pt x="8135239" y="7200011"/>
                  </a:lnTo>
                  <a:close/>
                </a:path>
              </a:pathLst>
            </a:custGeom>
            <a:solidFill>
              <a:srgbClr val="0009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38673" y="9759314"/>
            <a:ext cx="3765000" cy="426000"/>
            <a:chOff x="0" y="0"/>
            <a:chExt cx="5020000" cy="56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9929" cy="567944"/>
            </a:xfrm>
            <a:custGeom>
              <a:avLst/>
              <a:gdLst/>
              <a:ahLst/>
              <a:cxnLst/>
              <a:rect r="r" b="b" t="t" l="l"/>
              <a:pathLst>
                <a:path h="567944" w="5019929">
                  <a:moveTo>
                    <a:pt x="0" y="283972"/>
                  </a:moveTo>
                  <a:cubicBezTo>
                    <a:pt x="0" y="127127"/>
                    <a:pt x="127127" y="0"/>
                    <a:pt x="283972" y="0"/>
                  </a:cubicBezTo>
                  <a:lnTo>
                    <a:pt x="4735957" y="0"/>
                  </a:lnTo>
                  <a:cubicBezTo>
                    <a:pt x="4892802" y="0"/>
                    <a:pt x="5019929" y="127127"/>
                    <a:pt x="5019929" y="283972"/>
                  </a:cubicBezTo>
                  <a:cubicBezTo>
                    <a:pt x="5019929" y="440817"/>
                    <a:pt x="4892802" y="567944"/>
                    <a:pt x="4735957" y="567944"/>
                  </a:cubicBezTo>
                  <a:lnTo>
                    <a:pt x="283972" y="567944"/>
                  </a:lnTo>
                  <a:cubicBezTo>
                    <a:pt x="127127" y="567944"/>
                    <a:pt x="0" y="440817"/>
                    <a:pt x="0" y="283972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  <p:sp>
        <p:nvSpPr>
          <p:cNvPr name="AutoShape 9" id="9"/>
          <p:cNvSpPr/>
          <p:nvPr/>
        </p:nvSpPr>
        <p:spPr>
          <a:xfrm>
            <a:off x="14462615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4614327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4766039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4917749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5221173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5524595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5828019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5069461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903875" y="3390875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676307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979731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6131441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6283153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434865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2263500" y="1913726"/>
            <a:ext cx="5394552" cy="7344574"/>
          </a:xfrm>
          <a:custGeom>
            <a:avLst/>
            <a:gdLst/>
            <a:ahLst/>
            <a:cxnLst/>
            <a:rect r="r" b="b" t="t" l="l"/>
            <a:pathLst>
              <a:path h="7344574" w="5394552">
                <a:moveTo>
                  <a:pt x="0" y="0"/>
                </a:moveTo>
                <a:lnTo>
                  <a:pt x="5394552" y="0"/>
                </a:lnTo>
                <a:lnTo>
                  <a:pt x="5394552" y="7344574"/>
                </a:lnTo>
                <a:lnTo>
                  <a:pt x="0" y="73445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4" id="24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0" t="12976" r="0" b="14471"/>
          <a:stretch>
            <a:fillRect/>
          </a:stretch>
        </p:blipFill>
        <p:spPr>
          <a:xfrm flipH="false" flipV="false" rot="0">
            <a:off x="2404677" y="2152032"/>
            <a:ext cx="5133975" cy="6621859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238365" y="646901"/>
            <a:ext cx="15215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demo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19677" y="3400378"/>
            <a:ext cx="58765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Approach the Gate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52678" y="4632240"/>
            <a:ext cx="58765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Face scanned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119677" y="5860965"/>
            <a:ext cx="58765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Done under 30 seconds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405638" y="-101684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18256302" y="0"/>
                </a:moveTo>
                <a:lnTo>
                  <a:pt x="0" y="0"/>
                </a:lnTo>
                <a:lnTo>
                  <a:pt x="0" y="10286998"/>
                </a:lnTo>
                <a:lnTo>
                  <a:pt x="18256302" y="10286998"/>
                </a:lnTo>
                <a:lnTo>
                  <a:pt x="182563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4527000" cy="3742800"/>
          </a:xfrm>
          <a:custGeom>
            <a:avLst/>
            <a:gdLst/>
            <a:ahLst/>
            <a:cxnLst/>
            <a:rect r="r" b="b" t="t" l="l"/>
            <a:pathLst>
              <a:path h="3742800" w="4527000">
                <a:moveTo>
                  <a:pt x="0" y="0"/>
                </a:moveTo>
                <a:lnTo>
                  <a:pt x="4527000" y="0"/>
                </a:lnTo>
                <a:lnTo>
                  <a:pt x="4527000" y="3742800"/>
                </a:lnTo>
                <a:lnTo>
                  <a:pt x="0" y="3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708082" y="-3001114"/>
            <a:ext cx="22357450" cy="13864075"/>
          </a:xfrm>
          <a:custGeom>
            <a:avLst/>
            <a:gdLst/>
            <a:ahLst/>
            <a:cxnLst/>
            <a:rect r="r" b="b" t="t" l="l"/>
            <a:pathLst>
              <a:path h="13864075" w="22357450">
                <a:moveTo>
                  <a:pt x="0" y="0"/>
                </a:moveTo>
                <a:lnTo>
                  <a:pt x="22357450" y="0"/>
                </a:lnTo>
                <a:lnTo>
                  <a:pt x="22357450" y="13864075"/>
                </a:lnTo>
                <a:lnTo>
                  <a:pt x="0" y="13864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462615" y="5462961"/>
            <a:ext cx="6101400" cy="5400000"/>
            <a:chOff x="0" y="0"/>
            <a:chExt cx="8135200" cy="720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35239" cy="7200011"/>
            </a:xfrm>
            <a:custGeom>
              <a:avLst/>
              <a:gdLst/>
              <a:ahLst/>
              <a:cxnLst/>
              <a:rect r="r" b="b" t="t" l="l"/>
              <a:pathLst>
                <a:path h="7200011" w="8135239">
                  <a:moveTo>
                    <a:pt x="8135239" y="0"/>
                  </a:moveTo>
                  <a:lnTo>
                    <a:pt x="3599942" y="0"/>
                  </a:lnTo>
                  <a:cubicBezTo>
                    <a:pt x="1611757" y="0"/>
                    <a:pt x="0" y="1611757"/>
                    <a:pt x="0" y="3599942"/>
                  </a:cubicBezTo>
                  <a:lnTo>
                    <a:pt x="0" y="7200011"/>
                  </a:lnTo>
                  <a:lnTo>
                    <a:pt x="8135239" y="7200011"/>
                  </a:lnTo>
                  <a:close/>
                </a:path>
              </a:pathLst>
            </a:custGeom>
            <a:solidFill>
              <a:srgbClr val="00094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338673" y="9759314"/>
            <a:ext cx="3765000" cy="426000"/>
            <a:chOff x="0" y="0"/>
            <a:chExt cx="5020000" cy="56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9929" cy="567944"/>
            </a:xfrm>
            <a:custGeom>
              <a:avLst/>
              <a:gdLst/>
              <a:ahLst/>
              <a:cxnLst/>
              <a:rect r="r" b="b" t="t" l="l"/>
              <a:pathLst>
                <a:path h="567944" w="5019929">
                  <a:moveTo>
                    <a:pt x="0" y="283972"/>
                  </a:moveTo>
                  <a:cubicBezTo>
                    <a:pt x="0" y="127127"/>
                    <a:pt x="127127" y="0"/>
                    <a:pt x="283972" y="0"/>
                  </a:cubicBezTo>
                  <a:lnTo>
                    <a:pt x="4735957" y="0"/>
                  </a:lnTo>
                  <a:cubicBezTo>
                    <a:pt x="4892802" y="0"/>
                    <a:pt x="5019929" y="127127"/>
                    <a:pt x="5019929" y="283972"/>
                  </a:cubicBezTo>
                  <a:cubicBezTo>
                    <a:pt x="5019929" y="440817"/>
                    <a:pt x="4892802" y="567944"/>
                    <a:pt x="4735957" y="567944"/>
                  </a:cubicBezTo>
                  <a:lnTo>
                    <a:pt x="283972" y="567944"/>
                  </a:lnTo>
                  <a:cubicBezTo>
                    <a:pt x="127127" y="567944"/>
                    <a:pt x="0" y="440817"/>
                    <a:pt x="0" y="283972"/>
                  </a:cubicBezTo>
                  <a:close/>
                </a:path>
              </a:pathLst>
            </a:custGeom>
            <a:solidFill>
              <a:srgbClr val="516CEE">
                <a:alpha val="36863"/>
              </a:srgbClr>
            </a:solidFill>
          </p:spPr>
        </p:sp>
      </p:grpSp>
      <p:sp>
        <p:nvSpPr>
          <p:cNvPr name="AutoShape 9" id="9"/>
          <p:cNvSpPr/>
          <p:nvPr/>
        </p:nvSpPr>
        <p:spPr>
          <a:xfrm>
            <a:off x="14462615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4614327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4766039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14917749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5221173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5524595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15828019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5069461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5903875" y="3390875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5676307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5979731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6131441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6283153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6434865" y="3390853"/>
            <a:ext cx="19050" cy="421005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4220153" y="2253320"/>
            <a:ext cx="8828000" cy="6419282"/>
          </a:xfrm>
          <a:custGeom>
            <a:avLst/>
            <a:gdLst/>
            <a:ahLst/>
            <a:cxnLst/>
            <a:rect r="r" b="b" t="t" l="l"/>
            <a:pathLst>
              <a:path h="6419282" w="8828000">
                <a:moveTo>
                  <a:pt x="0" y="0"/>
                </a:moveTo>
                <a:lnTo>
                  <a:pt x="8828000" y="0"/>
                </a:lnTo>
                <a:lnTo>
                  <a:pt x="8828000" y="6419282"/>
                </a:lnTo>
                <a:lnTo>
                  <a:pt x="0" y="64192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4553857" y="2644901"/>
            <a:ext cx="8160591" cy="4793827"/>
          </a:xfrm>
          <a:custGeom>
            <a:avLst/>
            <a:gdLst/>
            <a:ahLst/>
            <a:cxnLst/>
            <a:rect r="r" b="b" t="t" l="l"/>
            <a:pathLst>
              <a:path h="4793827" w="8160591">
                <a:moveTo>
                  <a:pt x="0" y="0"/>
                </a:moveTo>
                <a:lnTo>
                  <a:pt x="8160591" y="0"/>
                </a:lnTo>
                <a:lnTo>
                  <a:pt x="8160591" y="4793827"/>
                </a:lnTo>
                <a:lnTo>
                  <a:pt x="0" y="47938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219315" y="810437"/>
            <a:ext cx="15215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demo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37398" y="-24"/>
            <a:ext cx="19293700" cy="10287024"/>
          </a:xfrm>
          <a:custGeom>
            <a:avLst/>
            <a:gdLst/>
            <a:ahLst/>
            <a:cxnLst/>
            <a:rect r="r" b="b" t="t" l="l"/>
            <a:pathLst>
              <a:path h="10287024" w="19293700">
                <a:moveTo>
                  <a:pt x="0" y="0"/>
                </a:moveTo>
                <a:lnTo>
                  <a:pt x="19293700" y="0"/>
                </a:lnTo>
                <a:lnTo>
                  <a:pt x="19293700" y="10287024"/>
                </a:lnTo>
                <a:lnTo>
                  <a:pt x="0" y="102870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24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0" y="0"/>
                </a:moveTo>
                <a:lnTo>
                  <a:pt x="18256302" y="0"/>
                </a:lnTo>
                <a:lnTo>
                  <a:pt x="18256302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04740" y="2467653"/>
            <a:ext cx="3929605" cy="1057858"/>
            <a:chOff x="0" y="0"/>
            <a:chExt cx="1233250" cy="331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33250" cy="331994"/>
            </a:xfrm>
            <a:custGeom>
              <a:avLst/>
              <a:gdLst/>
              <a:ahLst/>
              <a:cxnLst/>
              <a:rect r="r" b="b" t="t" l="l"/>
              <a:pathLst>
                <a:path h="331994" w="1233250">
                  <a:moveTo>
                    <a:pt x="0" y="50800"/>
                  </a:moveTo>
                  <a:lnTo>
                    <a:pt x="616625" y="0"/>
                  </a:lnTo>
                  <a:lnTo>
                    <a:pt x="1233250" y="50800"/>
                  </a:lnTo>
                  <a:lnTo>
                    <a:pt x="1233250" y="281194"/>
                  </a:lnTo>
                  <a:lnTo>
                    <a:pt x="616625" y="331994"/>
                  </a:lnTo>
                  <a:lnTo>
                    <a:pt x="0" y="2811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2700"/>
              <a:ext cx="1233250" cy="31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IDEMIA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179197" y="2467653"/>
            <a:ext cx="3929605" cy="1057858"/>
            <a:chOff x="0" y="0"/>
            <a:chExt cx="1233250" cy="3319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33250" cy="331994"/>
            </a:xfrm>
            <a:custGeom>
              <a:avLst/>
              <a:gdLst/>
              <a:ahLst/>
              <a:cxnLst/>
              <a:rect r="r" b="b" t="t" l="l"/>
              <a:pathLst>
                <a:path h="331994" w="1233250">
                  <a:moveTo>
                    <a:pt x="0" y="50800"/>
                  </a:moveTo>
                  <a:lnTo>
                    <a:pt x="616625" y="0"/>
                  </a:lnTo>
                  <a:lnTo>
                    <a:pt x="1233250" y="50800"/>
                  </a:lnTo>
                  <a:lnTo>
                    <a:pt x="1233250" y="281194"/>
                  </a:lnTo>
                  <a:lnTo>
                    <a:pt x="616625" y="331994"/>
                  </a:lnTo>
                  <a:lnTo>
                    <a:pt x="0" y="2811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2700"/>
              <a:ext cx="1233250" cy="31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NEC Corporation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82134" y="2467653"/>
            <a:ext cx="3929605" cy="1057858"/>
            <a:chOff x="0" y="0"/>
            <a:chExt cx="1233250" cy="3319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33250" cy="331994"/>
            </a:xfrm>
            <a:custGeom>
              <a:avLst/>
              <a:gdLst/>
              <a:ahLst/>
              <a:cxnLst/>
              <a:rect r="r" b="b" t="t" l="l"/>
              <a:pathLst>
                <a:path h="331994" w="1233250">
                  <a:moveTo>
                    <a:pt x="0" y="50800"/>
                  </a:moveTo>
                  <a:lnTo>
                    <a:pt x="616625" y="0"/>
                  </a:lnTo>
                  <a:lnTo>
                    <a:pt x="1233250" y="50800"/>
                  </a:lnTo>
                  <a:lnTo>
                    <a:pt x="1233250" y="281194"/>
                  </a:lnTo>
                  <a:lnTo>
                    <a:pt x="616625" y="331994"/>
                  </a:lnTo>
                  <a:lnTo>
                    <a:pt x="0" y="281194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AE0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2700"/>
              <a:ext cx="1233250" cy="319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4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Thales Group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790929" y="3966912"/>
            <a:ext cx="13074934" cy="2847608"/>
          </a:xfrm>
          <a:custGeom>
            <a:avLst/>
            <a:gdLst/>
            <a:ahLst/>
            <a:cxnLst/>
            <a:rect r="r" b="b" t="t" l="l"/>
            <a:pathLst>
              <a:path h="2847608" w="13074934">
                <a:moveTo>
                  <a:pt x="0" y="0"/>
                </a:moveTo>
                <a:lnTo>
                  <a:pt x="13074934" y="0"/>
                </a:lnTo>
                <a:lnTo>
                  <a:pt x="13074934" y="2847608"/>
                </a:lnTo>
                <a:lnTo>
                  <a:pt x="0" y="28476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36175" y="1170425"/>
            <a:ext cx="15215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Competition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16457" y="7159925"/>
            <a:ext cx="37178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b="true" sz="3165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Lower cost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90913" y="7159925"/>
            <a:ext cx="371788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b="true" sz="3165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Easy to integrate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66128" y="7159925"/>
            <a:ext cx="4609577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b="true" sz="3165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Available everywhere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18256302" y="0"/>
                </a:moveTo>
                <a:lnTo>
                  <a:pt x="0" y="0"/>
                </a:lnTo>
                <a:lnTo>
                  <a:pt x="0" y="10286998"/>
                </a:lnTo>
                <a:lnTo>
                  <a:pt x="18256302" y="10286998"/>
                </a:lnTo>
                <a:lnTo>
                  <a:pt x="182563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109175" y="-399725"/>
            <a:ext cx="6343050" cy="1241250"/>
            <a:chOff x="0" y="0"/>
            <a:chExt cx="8457400" cy="165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57438" cy="1654937"/>
            </a:xfrm>
            <a:custGeom>
              <a:avLst/>
              <a:gdLst/>
              <a:ahLst/>
              <a:cxnLst/>
              <a:rect r="r" b="b" t="t" l="l"/>
              <a:pathLst>
                <a:path h="1654937" w="8457438">
                  <a:moveTo>
                    <a:pt x="8444738" y="25400"/>
                  </a:move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1478"/>
                    <a:pt x="25400" y="284353"/>
                  </a:cubicBezTo>
                  <a:lnTo>
                    <a:pt x="12700" y="284353"/>
                  </a:lnTo>
                  <a:lnTo>
                    <a:pt x="25400" y="284353"/>
                  </a:lnTo>
                  <a:lnTo>
                    <a:pt x="25400" y="1642237"/>
                  </a:lnTo>
                  <a:lnTo>
                    <a:pt x="12700" y="1642237"/>
                  </a:lnTo>
                  <a:lnTo>
                    <a:pt x="12700" y="1629537"/>
                  </a:lnTo>
                  <a:lnTo>
                    <a:pt x="8444738" y="1629537"/>
                  </a:lnTo>
                  <a:lnTo>
                    <a:pt x="8444738" y="1642237"/>
                  </a:lnTo>
                  <a:lnTo>
                    <a:pt x="8432038" y="1642237"/>
                  </a:lnTo>
                  <a:lnTo>
                    <a:pt x="8432038" y="12700"/>
                  </a:lnTo>
                  <a:lnTo>
                    <a:pt x="8444738" y="12700"/>
                  </a:lnTo>
                  <a:lnTo>
                    <a:pt x="8444738" y="25400"/>
                  </a:lnTo>
                  <a:moveTo>
                    <a:pt x="8444738" y="0"/>
                  </a:moveTo>
                  <a:cubicBezTo>
                    <a:pt x="8451723" y="0"/>
                    <a:pt x="8457438" y="5715"/>
                    <a:pt x="8457438" y="12700"/>
                  </a:cubicBezTo>
                  <a:lnTo>
                    <a:pt x="8457438" y="1642237"/>
                  </a:lnTo>
                  <a:cubicBezTo>
                    <a:pt x="8457438" y="1649222"/>
                    <a:pt x="8451723" y="1654937"/>
                    <a:pt x="8444738" y="1654937"/>
                  </a:cubicBezTo>
                  <a:lnTo>
                    <a:pt x="12700" y="1654937"/>
                  </a:lnTo>
                  <a:cubicBezTo>
                    <a:pt x="5715" y="1654937"/>
                    <a:pt x="0" y="1649222"/>
                    <a:pt x="0" y="1642237"/>
                  </a:cubicBezTo>
                  <a:lnTo>
                    <a:pt x="0" y="284353"/>
                  </a:lnTo>
                  <a:cubicBezTo>
                    <a:pt x="0" y="127127"/>
                    <a:pt x="128905" y="0"/>
                    <a:pt x="287655" y="0"/>
                  </a:cubicBezTo>
                  <a:lnTo>
                    <a:pt x="8444738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AutoShape 5" id="5"/>
          <p:cNvSpPr/>
          <p:nvPr/>
        </p:nvSpPr>
        <p:spPr>
          <a:xfrm rot="5384444">
            <a:off x="1493590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84444">
            <a:off x="15087615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84444">
            <a:off x="15239327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84444">
            <a:off x="15391037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84444">
            <a:off x="15694461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84444">
            <a:off x="1599788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84444">
            <a:off x="16301307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84444">
            <a:off x="15542749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84444">
            <a:off x="1584617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84444">
            <a:off x="16149595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444">
            <a:off x="16453019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84444">
            <a:off x="16604729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84444">
            <a:off x="16756441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384444">
            <a:off x="1690815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5840074" y="9460876"/>
            <a:ext cx="4651650" cy="4651650"/>
          </a:xfrm>
          <a:custGeom>
            <a:avLst/>
            <a:gdLst/>
            <a:ahLst/>
            <a:cxnLst/>
            <a:rect r="r" b="b" t="t" l="l"/>
            <a:pathLst>
              <a:path h="4651650" w="4651650">
                <a:moveTo>
                  <a:pt x="0" y="0"/>
                </a:moveTo>
                <a:lnTo>
                  <a:pt x="4651650" y="0"/>
                </a:lnTo>
                <a:lnTo>
                  <a:pt x="4651650" y="4651650"/>
                </a:lnTo>
                <a:lnTo>
                  <a:pt x="0" y="4651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646250" y="6544200"/>
            <a:ext cx="18934250" cy="3742800"/>
          </a:xfrm>
          <a:custGeom>
            <a:avLst/>
            <a:gdLst/>
            <a:ahLst/>
            <a:cxnLst/>
            <a:rect r="r" b="b" t="t" l="l"/>
            <a:pathLst>
              <a:path h="3742800" w="18934250">
                <a:moveTo>
                  <a:pt x="0" y="0"/>
                </a:moveTo>
                <a:lnTo>
                  <a:pt x="18934250" y="0"/>
                </a:lnTo>
                <a:lnTo>
                  <a:pt x="18934250" y="3742800"/>
                </a:lnTo>
                <a:lnTo>
                  <a:pt x="0" y="3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36224" y="4295774"/>
            <a:ext cx="15215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Bussiness model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18256302" y="0"/>
                </a:moveTo>
                <a:lnTo>
                  <a:pt x="0" y="0"/>
                </a:lnTo>
                <a:lnTo>
                  <a:pt x="0" y="10286998"/>
                </a:lnTo>
                <a:lnTo>
                  <a:pt x="18256302" y="10286998"/>
                </a:lnTo>
                <a:lnTo>
                  <a:pt x="182563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0" y="0"/>
                </a:moveTo>
                <a:lnTo>
                  <a:pt x="18256302" y="0"/>
                </a:lnTo>
                <a:lnTo>
                  <a:pt x="18256302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50692"/>
            <a:ext cx="18836158" cy="10006250"/>
          </a:xfrm>
          <a:custGeom>
            <a:avLst/>
            <a:gdLst/>
            <a:ahLst/>
            <a:cxnLst/>
            <a:rect r="r" b="b" t="t" l="l"/>
            <a:pathLst>
              <a:path h="10006250" w="18836158">
                <a:moveTo>
                  <a:pt x="0" y="0"/>
                </a:moveTo>
                <a:lnTo>
                  <a:pt x="18836158" y="0"/>
                </a:lnTo>
                <a:lnTo>
                  <a:pt x="18836158" y="10006250"/>
                </a:lnTo>
                <a:lnTo>
                  <a:pt x="0" y="1000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332075" y="-739325"/>
            <a:ext cx="6877050" cy="1721850"/>
            <a:chOff x="0" y="0"/>
            <a:chExt cx="9169400" cy="2295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9400" cy="2295779"/>
            </a:xfrm>
            <a:custGeom>
              <a:avLst/>
              <a:gdLst/>
              <a:ahLst/>
              <a:cxnLst/>
              <a:rect r="r" b="b" t="t" l="l"/>
              <a:pathLst>
                <a:path h="2295779" w="9169400">
                  <a:moveTo>
                    <a:pt x="9156700" y="25400"/>
                  </a:moveTo>
                  <a:lnTo>
                    <a:pt x="394335" y="25400"/>
                  </a:lnTo>
                  <a:lnTo>
                    <a:pt x="394335" y="12700"/>
                  </a:lnTo>
                  <a:lnTo>
                    <a:pt x="394335" y="25400"/>
                  </a:lnTo>
                  <a:cubicBezTo>
                    <a:pt x="190500" y="25400"/>
                    <a:pt x="25400" y="189230"/>
                    <a:pt x="25400" y="391160"/>
                  </a:cubicBezTo>
                  <a:lnTo>
                    <a:pt x="12700" y="391160"/>
                  </a:lnTo>
                  <a:lnTo>
                    <a:pt x="25400" y="39116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9156700" y="2270379"/>
                  </a:lnTo>
                  <a:lnTo>
                    <a:pt x="9156700" y="2283079"/>
                  </a:lnTo>
                  <a:lnTo>
                    <a:pt x="9144000" y="2283079"/>
                  </a:lnTo>
                  <a:lnTo>
                    <a:pt x="9144000" y="12700"/>
                  </a:lnTo>
                  <a:lnTo>
                    <a:pt x="9156700" y="12700"/>
                  </a:lnTo>
                  <a:lnTo>
                    <a:pt x="9156700" y="25400"/>
                  </a:lnTo>
                  <a:moveTo>
                    <a:pt x="9156700" y="0"/>
                  </a:moveTo>
                  <a:cubicBezTo>
                    <a:pt x="9163685" y="0"/>
                    <a:pt x="9169400" y="5715"/>
                    <a:pt x="9169400" y="12700"/>
                  </a:cubicBezTo>
                  <a:lnTo>
                    <a:pt x="9169400" y="2283079"/>
                  </a:lnTo>
                  <a:cubicBezTo>
                    <a:pt x="9169400" y="2290064"/>
                    <a:pt x="9163685" y="2295779"/>
                    <a:pt x="915670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391160"/>
                  </a:lnTo>
                  <a:cubicBezTo>
                    <a:pt x="0" y="175006"/>
                    <a:pt x="176657" y="0"/>
                    <a:pt x="394335" y="0"/>
                  </a:cubicBezTo>
                  <a:lnTo>
                    <a:pt x="9156700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AutoShape 7" id="7"/>
          <p:cNvSpPr/>
          <p:nvPr/>
        </p:nvSpPr>
        <p:spPr>
          <a:xfrm rot="5384444">
            <a:off x="15135753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84444">
            <a:off x="15287465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84444">
            <a:off x="15439177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84444">
            <a:off x="15590887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84444">
            <a:off x="15894311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84444">
            <a:off x="15742599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84444">
            <a:off x="16046023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593126" y="-2795524"/>
            <a:ext cx="3770550" cy="3768500"/>
          </a:xfrm>
          <a:custGeom>
            <a:avLst/>
            <a:gdLst/>
            <a:ahLst/>
            <a:cxnLst/>
            <a:rect r="r" b="b" t="t" l="l"/>
            <a:pathLst>
              <a:path h="3768500" w="377055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207961" y="1028700"/>
            <a:ext cx="13872077" cy="8427287"/>
          </a:xfrm>
          <a:custGeom>
            <a:avLst/>
            <a:gdLst/>
            <a:ahLst/>
            <a:cxnLst/>
            <a:rect r="r" b="b" t="t" l="l"/>
            <a:pathLst>
              <a:path h="8427287" w="13872077">
                <a:moveTo>
                  <a:pt x="0" y="0"/>
                </a:moveTo>
                <a:lnTo>
                  <a:pt x="13872078" y="0"/>
                </a:lnTo>
                <a:lnTo>
                  <a:pt x="13872078" y="8427287"/>
                </a:lnTo>
                <a:lnTo>
                  <a:pt x="0" y="8427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18256302" y="0"/>
                </a:moveTo>
                <a:lnTo>
                  <a:pt x="0" y="0"/>
                </a:lnTo>
                <a:lnTo>
                  <a:pt x="0" y="10286998"/>
                </a:lnTo>
                <a:lnTo>
                  <a:pt x="18256302" y="10286998"/>
                </a:lnTo>
                <a:lnTo>
                  <a:pt x="182563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-109175" y="-399725"/>
            <a:ext cx="6343050" cy="1241250"/>
            <a:chOff x="0" y="0"/>
            <a:chExt cx="8457400" cy="165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57438" cy="1654937"/>
            </a:xfrm>
            <a:custGeom>
              <a:avLst/>
              <a:gdLst/>
              <a:ahLst/>
              <a:cxnLst/>
              <a:rect r="r" b="b" t="t" l="l"/>
              <a:pathLst>
                <a:path h="1654937" w="8457438">
                  <a:moveTo>
                    <a:pt x="8444738" y="25400"/>
                  </a:moveTo>
                  <a:lnTo>
                    <a:pt x="287655" y="25400"/>
                  </a:lnTo>
                  <a:lnTo>
                    <a:pt x="287655" y="12700"/>
                  </a:lnTo>
                  <a:lnTo>
                    <a:pt x="287655" y="25400"/>
                  </a:lnTo>
                  <a:cubicBezTo>
                    <a:pt x="142748" y="25400"/>
                    <a:pt x="25400" y="141478"/>
                    <a:pt x="25400" y="284353"/>
                  </a:cubicBezTo>
                  <a:lnTo>
                    <a:pt x="12700" y="284353"/>
                  </a:lnTo>
                  <a:lnTo>
                    <a:pt x="25400" y="284353"/>
                  </a:lnTo>
                  <a:lnTo>
                    <a:pt x="25400" y="1642237"/>
                  </a:lnTo>
                  <a:lnTo>
                    <a:pt x="12700" y="1642237"/>
                  </a:lnTo>
                  <a:lnTo>
                    <a:pt x="12700" y="1629537"/>
                  </a:lnTo>
                  <a:lnTo>
                    <a:pt x="8444738" y="1629537"/>
                  </a:lnTo>
                  <a:lnTo>
                    <a:pt x="8444738" y="1642237"/>
                  </a:lnTo>
                  <a:lnTo>
                    <a:pt x="8432038" y="1642237"/>
                  </a:lnTo>
                  <a:lnTo>
                    <a:pt x="8432038" y="12700"/>
                  </a:lnTo>
                  <a:lnTo>
                    <a:pt x="8444738" y="12700"/>
                  </a:lnTo>
                  <a:lnTo>
                    <a:pt x="8444738" y="25400"/>
                  </a:lnTo>
                  <a:moveTo>
                    <a:pt x="8444738" y="0"/>
                  </a:moveTo>
                  <a:cubicBezTo>
                    <a:pt x="8451723" y="0"/>
                    <a:pt x="8457438" y="5715"/>
                    <a:pt x="8457438" y="12700"/>
                  </a:cubicBezTo>
                  <a:lnTo>
                    <a:pt x="8457438" y="1642237"/>
                  </a:lnTo>
                  <a:cubicBezTo>
                    <a:pt x="8457438" y="1649222"/>
                    <a:pt x="8451723" y="1654937"/>
                    <a:pt x="8444738" y="1654937"/>
                  </a:cubicBezTo>
                  <a:lnTo>
                    <a:pt x="12700" y="1654937"/>
                  </a:lnTo>
                  <a:cubicBezTo>
                    <a:pt x="5715" y="1654937"/>
                    <a:pt x="0" y="1649222"/>
                    <a:pt x="0" y="1642237"/>
                  </a:cubicBezTo>
                  <a:lnTo>
                    <a:pt x="0" y="284353"/>
                  </a:lnTo>
                  <a:cubicBezTo>
                    <a:pt x="0" y="127127"/>
                    <a:pt x="128905" y="0"/>
                    <a:pt x="287655" y="0"/>
                  </a:cubicBezTo>
                  <a:lnTo>
                    <a:pt x="8444738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AutoShape 5" id="5"/>
          <p:cNvSpPr/>
          <p:nvPr/>
        </p:nvSpPr>
        <p:spPr>
          <a:xfrm rot="5384444">
            <a:off x="1493590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5384444">
            <a:off x="15087615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rot="5384444">
            <a:off x="15239327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84444">
            <a:off x="15391037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84444">
            <a:off x="15694461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84444">
            <a:off x="1599788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84444">
            <a:off x="16301307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84444">
            <a:off x="15542749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84444">
            <a:off x="1584617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84444">
            <a:off x="16149595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5384444">
            <a:off x="16453019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rot="5384444">
            <a:off x="16604729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rot="5384444">
            <a:off x="16756441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384444">
            <a:off x="16908153" y="13464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5840074" y="9460876"/>
            <a:ext cx="4651650" cy="4651650"/>
          </a:xfrm>
          <a:custGeom>
            <a:avLst/>
            <a:gdLst/>
            <a:ahLst/>
            <a:cxnLst/>
            <a:rect r="r" b="b" t="t" l="l"/>
            <a:pathLst>
              <a:path h="4651650" w="4651650">
                <a:moveTo>
                  <a:pt x="0" y="0"/>
                </a:moveTo>
                <a:lnTo>
                  <a:pt x="4651650" y="0"/>
                </a:lnTo>
                <a:lnTo>
                  <a:pt x="4651650" y="4651650"/>
                </a:lnTo>
                <a:lnTo>
                  <a:pt x="0" y="4651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646250" y="6544200"/>
            <a:ext cx="18934250" cy="3742800"/>
          </a:xfrm>
          <a:custGeom>
            <a:avLst/>
            <a:gdLst/>
            <a:ahLst/>
            <a:cxnLst/>
            <a:rect r="r" b="b" t="t" l="l"/>
            <a:pathLst>
              <a:path h="3742800" w="18934250">
                <a:moveTo>
                  <a:pt x="0" y="0"/>
                </a:moveTo>
                <a:lnTo>
                  <a:pt x="18934250" y="0"/>
                </a:lnTo>
                <a:lnTo>
                  <a:pt x="18934250" y="3742800"/>
                </a:lnTo>
                <a:lnTo>
                  <a:pt x="0" y="3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536175" y="1170425"/>
            <a:ext cx="15215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Bussiness model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15986" y="5143500"/>
            <a:ext cx="3717889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3165" b="true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$120M+</a:t>
            </a:r>
          </a:p>
          <a:p>
            <a:pPr algn="ctr">
              <a:lnSpc>
                <a:spcPts val="3798"/>
              </a:lnSpc>
            </a:pPr>
            <a:r>
              <a:rPr lang="en-US" b="true" sz="3165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Projected Market Capture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516150" y="3167826"/>
            <a:ext cx="1777050" cy="1777050"/>
            <a:chOff x="0" y="0"/>
            <a:chExt cx="2369400" cy="2369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69439" cy="2369439"/>
            </a:xfrm>
            <a:custGeom>
              <a:avLst/>
              <a:gdLst/>
              <a:ahLst/>
              <a:cxnLst/>
              <a:rect r="r" b="b" t="t" l="l"/>
              <a:pathLst>
                <a:path h="2369439" w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039169" y="3172375"/>
            <a:ext cx="1777050" cy="1777050"/>
            <a:chOff x="0" y="0"/>
            <a:chExt cx="2369400" cy="2369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369439" cy="2369439"/>
            </a:xfrm>
            <a:custGeom>
              <a:avLst/>
              <a:gdLst/>
              <a:ahLst/>
              <a:cxnLst/>
              <a:rect r="r" b="b" t="t" l="l"/>
              <a:pathLst>
                <a:path h="2369439" w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997569" y="3172375"/>
            <a:ext cx="1777050" cy="1777050"/>
            <a:chOff x="0" y="0"/>
            <a:chExt cx="2369400" cy="2369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69439" cy="2369439"/>
            </a:xfrm>
            <a:custGeom>
              <a:avLst/>
              <a:gdLst/>
              <a:ahLst/>
              <a:cxnLst/>
              <a:rect r="r" b="b" t="t" l="l"/>
              <a:pathLst>
                <a:path h="2369439" w="2369439">
                  <a:moveTo>
                    <a:pt x="12700" y="0"/>
                  </a:moveTo>
                  <a:lnTo>
                    <a:pt x="2356739" y="0"/>
                  </a:lnTo>
                  <a:cubicBezTo>
                    <a:pt x="2363724" y="0"/>
                    <a:pt x="2369439" y="5715"/>
                    <a:pt x="2369439" y="12700"/>
                  </a:cubicBezTo>
                  <a:lnTo>
                    <a:pt x="2369439" y="2356739"/>
                  </a:lnTo>
                  <a:cubicBezTo>
                    <a:pt x="2369439" y="2363724"/>
                    <a:pt x="2363724" y="2369439"/>
                    <a:pt x="2356739" y="2369439"/>
                  </a:cubicBezTo>
                  <a:lnTo>
                    <a:pt x="12700" y="2369439"/>
                  </a:lnTo>
                  <a:cubicBezTo>
                    <a:pt x="5715" y="2369439"/>
                    <a:pt x="0" y="2363724"/>
                    <a:pt x="0" y="2356739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356739"/>
                  </a:lnTo>
                  <a:lnTo>
                    <a:pt x="12700" y="2356739"/>
                  </a:lnTo>
                  <a:lnTo>
                    <a:pt x="12700" y="2344039"/>
                  </a:lnTo>
                  <a:lnTo>
                    <a:pt x="2356739" y="2344039"/>
                  </a:lnTo>
                  <a:lnTo>
                    <a:pt x="2356739" y="2356739"/>
                  </a:lnTo>
                  <a:lnTo>
                    <a:pt x="2344039" y="2356739"/>
                  </a:lnTo>
                  <a:lnTo>
                    <a:pt x="2344039" y="12700"/>
                  </a:lnTo>
                  <a:lnTo>
                    <a:pt x="2356739" y="12700"/>
                  </a:lnTo>
                  <a:lnTo>
                    <a:pt x="235673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979331" y="3666707"/>
            <a:ext cx="850688" cy="850026"/>
          </a:xfrm>
          <a:custGeom>
            <a:avLst/>
            <a:gdLst/>
            <a:ahLst/>
            <a:cxnLst/>
            <a:rect r="r" b="b" t="t" l="l"/>
            <a:pathLst>
              <a:path h="850026" w="850688">
                <a:moveTo>
                  <a:pt x="0" y="0"/>
                </a:moveTo>
                <a:lnTo>
                  <a:pt x="850688" y="0"/>
                </a:lnTo>
                <a:lnTo>
                  <a:pt x="850688" y="850026"/>
                </a:lnTo>
                <a:lnTo>
                  <a:pt x="0" y="850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655742" y="3640832"/>
            <a:ext cx="516104" cy="840136"/>
          </a:xfrm>
          <a:custGeom>
            <a:avLst/>
            <a:gdLst/>
            <a:ahLst/>
            <a:cxnLst/>
            <a:rect r="r" b="b" t="t" l="l"/>
            <a:pathLst>
              <a:path h="840136" w="516104">
                <a:moveTo>
                  <a:pt x="0" y="0"/>
                </a:moveTo>
                <a:lnTo>
                  <a:pt x="516104" y="0"/>
                </a:lnTo>
                <a:lnTo>
                  <a:pt x="516104" y="840136"/>
                </a:lnTo>
                <a:lnTo>
                  <a:pt x="0" y="8401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628010" y="3595969"/>
            <a:ext cx="516086" cy="920764"/>
          </a:xfrm>
          <a:custGeom>
            <a:avLst/>
            <a:gdLst/>
            <a:ahLst/>
            <a:cxnLst/>
            <a:rect r="r" b="b" t="t" l="l"/>
            <a:pathLst>
              <a:path h="920764" w="516086">
                <a:moveTo>
                  <a:pt x="0" y="0"/>
                </a:moveTo>
                <a:lnTo>
                  <a:pt x="516086" y="0"/>
                </a:lnTo>
                <a:lnTo>
                  <a:pt x="516086" y="920764"/>
                </a:lnTo>
                <a:lnTo>
                  <a:pt x="0" y="9207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7161389" y="5158670"/>
            <a:ext cx="3717889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3165" b="true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$1,200 – $5,000</a:t>
            </a:r>
          </a:p>
          <a:p>
            <a:pPr algn="ctr">
              <a:lnSpc>
                <a:spcPts val="3798"/>
              </a:lnSpc>
            </a:pPr>
            <a:r>
              <a:rPr lang="en-US" b="true" sz="3165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 Monthly Revenue / Client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806792" y="5158670"/>
            <a:ext cx="4158521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8"/>
              </a:lnSpc>
            </a:pPr>
            <a:r>
              <a:rPr lang="en-US" sz="3165" b="true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$15M+</a:t>
            </a:r>
          </a:p>
          <a:p>
            <a:pPr algn="ctr">
              <a:lnSpc>
                <a:spcPts val="3798"/>
              </a:lnSpc>
            </a:pPr>
            <a:r>
              <a:rPr lang="en-US" sz="3165" b="true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Projected Revenue (5 Years)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18256302" y="0"/>
                </a:moveTo>
                <a:lnTo>
                  <a:pt x="0" y="0"/>
                </a:lnTo>
                <a:lnTo>
                  <a:pt x="0" y="10286998"/>
                </a:lnTo>
                <a:lnTo>
                  <a:pt x="18256302" y="10286998"/>
                </a:lnTo>
                <a:lnTo>
                  <a:pt x="18256302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48" y="0"/>
            <a:ext cx="18256302" cy="10286998"/>
          </a:xfrm>
          <a:custGeom>
            <a:avLst/>
            <a:gdLst/>
            <a:ahLst/>
            <a:cxnLst/>
            <a:rect r="r" b="b" t="t" l="l"/>
            <a:pathLst>
              <a:path h="10286998" w="18256302">
                <a:moveTo>
                  <a:pt x="0" y="0"/>
                </a:moveTo>
                <a:lnTo>
                  <a:pt x="18256302" y="0"/>
                </a:lnTo>
                <a:lnTo>
                  <a:pt x="18256302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82206"/>
            <a:ext cx="18836158" cy="10006250"/>
          </a:xfrm>
          <a:custGeom>
            <a:avLst/>
            <a:gdLst/>
            <a:ahLst/>
            <a:cxnLst/>
            <a:rect r="r" b="b" t="t" l="l"/>
            <a:pathLst>
              <a:path h="10006250" w="18836158">
                <a:moveTo>
                  <a:pt x="0" y="0"/>
                </a:moveTo>
                <a:lnTo>
                  <a:pt x="18836158" y="0"/>
                </a:lnTo>
                <a:lnTo>
                  <a:pt x="18836158" y="10006250"/>
                </a:lnTo>
                <a:lnTo>
                  <a:pt x="0" y="1000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10800000">
            <a:off x="-332075" y="-739325"/>
            <a:ext cx="6877050" cy="1721850"/>
            <a:chOff x="0" y="0"/>
            <a:chExt cx="9169400" cy="2295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69400" cy="2295779"/>
            </a:xfrm>
            <a:custGeom>
              <a:avLst/>
              <a:gdLst/>
              <a:ahLst/>
              <a:cxnLst/>
              <a:rect r="r" b="b" t="t" l="l"/>
              <a:pathLst>
                <a:path h="2295779" w="9169400">
                  <a:moveTo>
                    <a:pt x="9156700" y="25400"/>
                  </a:moveTo>
                  <a:lnTo>
                    <a:pt x="394335" y="25400"/>
                  </a:lnTo>
                  <a:lnTo>
                    <a:pt x="394335" y="12700"/>
                  </a:lnTo>
                  <a:lnTo>
                    <a:pt x="394335" y="25400"/>
                  </a:lnTo>
                  <a:cubicBezTo>
                    <a:pt x="190500" y="25400"/>
                    <a:pt x="25400" y="189230"/>
                    <a:pt x="25400" y="391160"/>
                  </a:cubicBezTo>
                  <a:lnTo>
                    <a:pt x="12700" y="391160"/>
                  </a:lnTo>
                  <a:lnTo>
                    <a:pt x="25400" y="391160"/>
                  </a:lnTo>
                  <a:lnTo>
                    <a:pt x="25400" y="2283079"/>
                  </a:lnTo>
                  <a:lnTo>
                    <a:pt x="12700" y="2283079"/>
                  </a:lnTo>
                  <a:lnTo>
                    <a:pt x="12700" y="2270379"/>
                  </a:lnTo>
                  <a:lnTo>
                    <a:pt x="9156700" y="2270379"/>
                  </a:lnTo>
                  <a:lnTo>
                    <a:pt x="9156700" y="2283079"/>
                  </a:lnTo>
                  <a:lnTo>
                    <a:pt x="9144000" y="2283079"/>
                  </a:lnTo>
                  <a:lnTo>
                    <a:pt x="9144000" y="12700"/>
                  </a:lnTo>
                  <a:lnTo>
                    <a:pt x="9156700" y="12700"/>
                  </a:lnTo>
                  <a:lnTo>
                    <a:pt x="9156700" y="25400"/>
                  </a:lnTo>
                  <a:moveTo>
                    <a:pt x="9156700" y="0"/>
                  </a:moveTo>
                  <a:cubicBezTo>
                    <a:pt x="9163685" y="0"/>
                    <a:pt x="9169400" y="5715"/>
                    <a:pt x="9169400" y="12700"/>
                  </a:cubicBezTo>
                  <a:lnTo>
                    <a:pt x="9169400" y="2283079"/>
                  </a:lnTo>
                  <a:cubicBezTo>
                    <a:pt x="9169400" y="2290064"/>
                    <a:pt x="9163685" y="2295779"/>
                    <a:pt x="9156700" y="2295779"/>
                  </a:cubicBezTo>
                  <a:lnTo>
                    <a:pt x="12700" y="2295779"/>
                  </a:lnTo>
                  <a:cubicBezTo>
                    <a:pt x="5715" y="2295779"/>
                    <a:pt x="0" y="2290064"/>
                    <a:pt x="0" y="2283079"/>
                  </a:cubicBezTo>
                  <a:lnTo>
                    <a:pt x="0" y="391160"/>
                  </a:lnTo>
                  <a:cubicBezTo>
                    <a:pt x="0" y="175006"/>
                    <a:pt x="176657" y="0"/>
                    <a:pt x="394335" y="0"/>
                  </a:cubicBezTo>
                  <a:lnTo>
                    <a:pt x="9156700" y="0"/>
                  </a:lnTo>
                  <a:close/>
                </a:path>
              </a:pathLst>
            </a:custGeom>
            <a:solidFill>
              <a:srgbClr val="63DBF5"/>
            </a:solidFill>
          </p:spPr>
        </p:sp>
      </p:grpSp>
      <p:sp>
        <p:nvSpPr>
          <p:cNvPr name="AutoShape 7" id="7"/>
          <p:cNvSpPr/>
          <p:nvPr/>
        </p:nvSpPr>
        <p:spPr>
          <a:xfrm rot="5384444">
            <a:off x="15135753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rot="5384444">
            <a:off x="15287465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5384444">
            <a:off x="15439177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5384444">
            <a:off x="15590887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5384444">
            <a:off x="15894311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384444">
            <a:off x="15742599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384444">
            <a:off x="16046023" y="5143500"/>
            <a:ext cx="4210093" cy="0"/>
          </a:xfrm>
          <a:prstGeom prst="line">
            <a:avLst/>
          </a:prstGeom>
          <a:ln cap="rnd" w="9525">
            <a:solidFill>
              <a:srgbClr val="63DB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593126" y="-2795524"/>
            <a:ext cx="3770550" cy="3768500"/>
          </a:xfrm>
          <a:custGeom>
            <a:avLst/>
            <a:gdLst/>
            <a:ahLst/>
            <a:cxnLst/>
            <a:rect r="r" b="b" t="t" l="l"/>
            <a:pathLst>
              <a:path h="3768500" w="3770550">
                <a:moveTo>
                  <a:pt x="0" y="0"/>
                </a:moveTo>
                <a:lnTo>
                  <a:pt x="3770550" y="0"/>
                </a:lnTo>
                <a:lnTo>
                  <a:pt x="3770550" y="3768500"/>
                </a:lnTo>
                <a:lnTo>
                  <a:pt x="0" y="3768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36175" y="1170425"/>
            <a:ext cx="15215550" cy="96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00094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Our team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05483" y="2781570"/>
            <a:ext cx="9975287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Khadija Ahmed - 252600430</a:t>
            </a:r>
          </a:p>
          <a:p>
            <a:pPr algn="ctr">
              <a:lnSpc>
                <a:spcPts val="4800"/>
              </a:lnSpc>
            </a:pPr>
          </a:p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Joumana Mostafa - 252600728</a:t>
            </a:r>
          </a:p>
          <a:p>
            <a:pPr algn="ctr">
              <a:lnSpc>
                <a:spcPts val="4800"/>
              </a:lnSpc>
            </a:pPr>
          </a:p>
          <a:p>
            <a:pPr algn="ctr">
              <a:lnSpc>
                <a:spcPts val="4800"/>
              </a:lnSpc>
            </a:pPr>
            <a:r>
              <a:rPr lang="en-US" sz="4000" b="true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Sandy Amr - 252601389</a:t>
            </a:r>
          </a:p>
          <a:p>
            <a:pPr algn="ctr">
              <a:lnSpc>
                <a:spcPts val="4800"/>
              </a:lnSpc>
            </a:pPr>
          </a:p>
          <a:p>
            <a:pPr algn="ctr">
              <a:lnSpc>
                <a:spcPts val="4800"/>
              </a:lnSpc>
            </a:pPr>
            <a:r>
              <a:rPr lang="en-US" b="true" sz="4000">
                <a:solidFill>
                  <a:srgbClr val="00649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Kirollos George - 252600431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DAHEwdWkkhQ</dc:identifier>
  <dcterms:modified xsi:type="dcterms:W3CDTF">2011-08-01T06:04:30Z</dcterms:modified>
  <cp:revision>1</cp:revision>
  <dc:title>Mirai ppt</dc:title>
</cp:coreProperties>
</file>